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2601-1E69-EADA-1226-707A31A5B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A7964-8CF4-2523-ECD9-07A79EC88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2B79-D8BC-55BD-1822-606BB01A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CAE50-C1B8-B937-88E8-CF99D64E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45B33-E18A-103E-6209-BC230EC8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0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C716-1A86-BCBF-AB20-E5B3C24E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916E-6C76-D585-64A6-4D8E5DD5C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AA12C-EF83-A201-866E-A60B4FA0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B7BA-CBA4-3C64-E970-DB99825E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AAAA-61FF-6C27-4531-69BB29F1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2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1683-1E8F-A8F6-742A-B3408717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73EFD-6A67-87CC-A5D8-67F2C215D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D95A8-B91C-D8AA-8358-49F436F3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0699-E906-F2C0-E734-AAD6D401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CDCD-F66F-97D1-A7A4-A3C835BF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2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98AE-A874-6A8C-651A-8340E664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C32B-159F-CF6B-52F0-A106A475C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2DC27-3A55-38A0-DEA3-880CC2F43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B2BCC-0DAA-9454-51E0-AC38725C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07A8C-E71A-DEF5-625B-6AAECA7F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35B6B-3693-6938-C811-406FD6CD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3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175E-742C-CF1D-2852-4DFD9B78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7E547-085D-DDD8-C4D1-D5B5165AA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628A2-765A-8D08-A5AC-9FE5C1D12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1657B-E499-02DA-EC77-70928A2E8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44E7E-09AA-06BB-5CFD-718E2CBCE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3F04D-11E3-6939-58FA-54557104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43C27-3CB5-1BF6-6C31-443E0AF8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B69ED-C18D-899E-39C3-35DD5EB9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5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000B-05BD-C3F2-AAA5-DEAA65E3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FB821-1C45-77F8-0B56-55E41AC3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F3501-FBDC-818D-01C4-0E749EDB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46A6C-D04E-E6A6-5E26-67CEB128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4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8161E-14EF-099D-E227-A0AF5327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63435-6B47-568A-2FF9-2B1FC8C2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49BEC-76BD-AE9F-599D-1382C41E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9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E2F3-466E-C8FF-20AD-DB12B410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CC2B-08BA-41A8-C82C-DB09A7FBF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B48B4-BE43-FC26-7D92-E56FE5370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ADE20-364A-60E1-E57C-D17385B7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BCD1-8FDD-24E4-4CD0-96D949DD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CE9F4-1DD0-7BE9-A53E-428BA8C4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8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8676-F6A6-1A0B-98D4-57497D9A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18E72-2E20-D660-583A-BFDBB2542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65FB3-0827-86EE-1671-6AA20C088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9E58B-3390-5C5D-67CC-31B9BD47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D63E6-8E07-8BAF-B11B-5AC05A2E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8AD19-8EBC-72ED-5121-23AF2BAC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7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4FC9-93B8-F406-57A1-315DA6DF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5B1CF-B46E-9B9F-9622-7CBA4BB13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42AAE-A3A0-BA9D-8595-D419C8DC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4432B-78F5-D14E-4528-F3191487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0C9D-A2B9-6550-4500-CBF22403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153B2-3421-C81A-7CE8-3DD9960AE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1363C-A943-63B0-205E-643B13134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5E94-570A-5A07-C46D-9D5534D9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64661-FA4E-2419-6C92-4989918E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D647-108E-CD78-CCBF-5019FAAD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2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946C9-95C3-D967-142B-EAA6EA51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B8AB-FD5E-A4A6-E5A0-F7F29C363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2EB8D-0667-A6A9-6979-4866E7FF7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8D39A-C87E-449B-846B-C2E7080D392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5D52-05DE-5212-43FE-5246203A8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9BF5E-581B-4D3D-35E9-78A1B9AB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793C5-F99E-44D5-AE95-D3BFF4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5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amimammadov/DATA-ANALYTICS-POTFOLIO/tree/main/Hospitality%20Revenue%20Analytics%20Dashboard%20(Power%20BI)%20%E2%80%94%20AtliQ%20Grand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ECBC-B860-3CF8-2498-4CA84AEF6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284542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INTERACTIVE DASHBOARD FOR</a:t>
            </a:r>
            <a:br>
              <a:rPr lang="en-US" dirty="0"/>
            </a:br>
            <a:r>
              <a:rPr lang="en-US" dirty="0"/>
              <a:t>REVENUE AID BOOKING</a:t>
            </a:r>
            <a:br>
              <a:rPr lang="en-US" dirty="0"/>
            </a:br>
            <a:r>
              <a:rPr lang="en-US" dirty="0"/>
              <a:t>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F7193-18BA-44E0-37A8-EAB5D5046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4489"/>
            <a:ext cx="2900516" cy="1186272"/>
          </a:xfrm>
        </p:spPr>
        <p:txBody>
          <a:bodyPr/>
          <a:lstStyle/>
          <a:p>
            <a:pPr algn="l"/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Repository</a:t>
            </a:r>
            <a:endParaRPr lang="en-US" dirty="0"/>
          </a:p>
          <a:p>
            <a:pPr algn="l"/>
            <a:r>
              <a:rPr lang="en-US" dirty="0"/>
              <a:t>Zamin Mammadov</a:t>
            </a:r>
            <a:endParaRPr lang="en-IN" dirty="0"/>
          </a:p>
          <a:p>
            <a:endParaRPr lang="en-US" dirty="0"/>
          </a:p>
        </p:txBody>
      </p:sp>
      <p:pic>
        <p:nvPicPr>
          <p:cNvPr id="5" name="Picture 4" descr="A logo with a circle and a letter&#10;&#10;AI-generated content may be incorrect.">
            <a:extLst>
              <a:ext uri="{FF2B5EF4-FFF2-40B4-BE49-F238E27FC236}">
                <a16:creationId xmlns:a16="http://schemas.microsoft.com/office/drawing/2014/main" id="{5EA58EC5-5876-3109-8FE5-BB9C6AD2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671" y="3429000"/>
            <a:ext cx="1746329" cy="15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2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A360-8238-63FA-E439-4C4DAE23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5051323" cy="1325563"/>
          </a:xfrm>
        </p:spPr>
        <p:txBody>
          <a:bodyPr/>
          <a:lstStyle/>
          <a:p>
            <a:r>
              <a:rPr lang="en-US" dirty="0"/>
              <a:t>Business Objective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78FA2-1F9D-1CAE-7F03-60217E08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AtliQ</a:t>
            </a:r>
            <a:r>
              <a:rPr lang="en-US" dirty="0"/>
              <a:t> operates a portfolio of hotels across multiple cities in India. </a:t>
            </a:r>
          </a:p>
          <a:p>
            <a:pPr>
              <a:lnSpc>
                <a:spcPct val="150000"/>
              </a:lnSpc>
            </a:pPr>
            <a:r>
              <a:rPr lang="en-US" dirty="0"/>
              <a:t>To improve revenue visibility and performance tracking, leadership needed a single, reliable reporting view instead of scattered manual analysis. </a:t>
            </a:r>
          </a:p>
          <a:p>
            <a:pPr>
              <a:lnSpc>
                <a:spcPct val="150000"/>
              </a:lnSpc>
            </a:pPr>
            <a:r>
              <a:rPr lang="en-US" dirty="0"/>
              <a:t>Using booking data from May to July 2022, this project delivers a Power BI KPI dashboard that monitors revenue and key metrics across hotel type, city, property, and booking channel. </a:t>
            </a:r>
          </a:p>
          <a:p>
            <a:pPr>
              <a:lnSpc>
                <a:spcPct val="150000"/>
              </a:lnSpc>
            </a:pPr>
            <a:r>
              <a:rPr lang="en-US" dirty="0"/>
              <a:t>The dashboard helps management quickly identify trends, understand the main revenue drivers, and take data-driven actions to improve performance.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39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DC9D-A928-759F-C1CA-F5AABF55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273"/>
            <a:ext cx="10515600" cy="1325563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3F14-D3FD-E10A-E120-B00A7D546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5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AtliQ</a:t>
            </a:r>
            <a:r>
              <a:rPr lang="en-US" dirty="0"/>
              <a:t> Grands needs a single, reliable dashboard to monitor hotel revenue performance and quickly understand what is driving changes (demand, pricing, cancellations, and channel mix) across cities and properties.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700" b="1" dirty="0"/>
              <a:t>Project scope</a:t>
            </a:r>
            <a:endParaRPr lang="en-US" sz="5700" dirty="0"/>
          </a:p>
          <a:p>
            <a:r>
              <a:rPr lang="en-US" dirty="0"/>
              <a:t>Combine revenue-related data needed for analysis (bookings + room-night metrics).</a:t>
            </a:r>
          </a:p>
          <a:p>
            <a:r>
              <a:rPr lang="en-US" dirty="0"/>
              <a:t>Clean and transform the dataset to remove inconsistencies and ensure accurate KPIs.</a:t>
            </a:r>
          </a:p>
          <a:p>
            <a:r>
              <a:rPr lang="en-US" dirty="0"/>
              <a:t>Build a Power BI data model and define the key measures for performance tracking.</a:t>
            </a:r>
          </a:p>
          <a:p>
            <a:r>
              <a:rPr lang="en-US" dirty="0"/>
              <a:t>Create an interactive KPI dashboard with slicers for time, city, property, hotel type, and booking platform.</a:t>
            </a:r>
          </a:p>
          <a:p>
            <a:r>
              <a:rPr lang="en-US" dirty="0"/>
              <a:t>Provide both an executive overview and drill-down views to identify top/bottom performers and revenue leakage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6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3C84-EFD9-EAB2-8253-23FBA842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 Approach (Slide)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FF57-1E9A-A510-DD1A-F9AED4F9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Used the provided hotel dataset covering </a:t>
            </a:r>
            <a:r>
              <a:rPr lang="en-US" b="1" dirty="0"/>
              <a:t>May–July 2022 (W19–W31)</a:t>
            </a:r>
            <a:r>
              <a:rPr lang="en-US" dirty="0"/>
              <a:t>, built around </a:t>
            </a:r>
            <a:r>
              <a:rPr lang="en-US" b="1" dirty="0"/>
              <a:t>booking-level and room-night</a:t>
            </a:r>
            <a:r>
              <a:rPr lang="en-US" dirty="0"/>
              <a:t> information.</a:t>
            </a:r>
          </a:p>
          <a:p>
            <a:r>
              <a:rPr lang="en-US" dirty="0"/>
              <a:t>Prepared the data in </a:t>
            </a:r>
            <a:r>
              <a:rPr lang="en-US" b="1" dirty="0"/>
              <a:t>Power Query</a:t>
            </a:r>
            <a:r>
              <a:rPr lang="en-US" dirty="0"/>
              <a:t> (data type fixes, cleaning, and transformations) to make it ready for reporting.</a:t>
            </a:r>
          </a:p>
          <a:p>
            <a:r>
              <a:rPr lang="en-US" dirty="0"/>
              <a:t>Designed a clean </a:t>
            </a:r>
            <a:r>
              <a:rPr lang="en-US" b="1" dirty="0"/>
              <a:t>data model</a:t>
            </a:r>
            <a:r>
              <a:rPr lang="en-US" dirty="0"/>
              <a:t> by connecting the fact tables with the supporting dimension tables (date, hotel, room, platform/segment fields) so slicers work correctly.</a:t>
            </a:r>
          </a:p>
          <a:p>
            <a:r>
              <a:rPr lang="en-US" dirty="0"/>
              <a:t>Created key </a:t>
            </a:r>
            <a:r>
              <a:rPr lang="en-US" b="1" dirty="0"/>
              <a:t>DAX measures</a:t>
            </a:r>
            <a:r>
              <a:rPr lang="en-US" dirty="0"/>
              <a:t> for revenue and performance tracking (revenue, occupancy, average daily rate, revenue per available room, </a:t>
            </a:r>
            <a:r>
              <a:rPr lang="en-US" dirty="0" err="1"/>
              <a:t>realisation</a:t>
            </a:r>
            <a:r>
              <a:rPr lang="en-US" dirty="0"/>
              <a:t>, cancellations, booked vs </a:t>
            </a:r>
            <a:r>
              <a:rPr lang="en-US" dirty="0" err="1"/>
              <a:t>utilised</a:t>
            </a:r>
            <a:r>
              <a:rPr lang="en-US" dirty="0"/>
              <a:t> nights).</a:t>
            </a:r>
          </a:p>
          <a:p>
            <a:r>
              <a:rPr lang="en-US" dirty="0"/>
              <a:t>Built an interactive </a:t>
            </a:r>
            <a:r>
              <a:rPr lang="en-US" b="1" dirty="0"/>
              <a:t>Power BI dashboard</a:t>
            </a:r>
            <a:r>
              <a:rPr lang="en-US" dirty="0"/>
              <a:t> with drill-down views to analyze trends, hotel type mix (Business vs Luxury), weekday vs weekend patterns, platform performance, and top/bottom hotels.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98BD-0737-6E37-6E6B-0912F887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 (Power BI – Model view)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70327B-95DA-87DC-4E43-FEFADBF26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209" y="1865819"/>
            <a:ext cx="7081265" cy="4351338"/>
          </a:xfrm>
        </p:spPr>
      </p:pic>
    </p:spTree>
    <p:extLst>
      <p:ext uri="{BB962C8B-B14F-4D97-AF65-F5344CB8AC3E}">
        <p14:creationId xmlns:p14="http://schemas.microsoft.com/office/powerpoint/2010/main" val="57334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8D15-4F25-1555-B304-D6EDBF62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Solution Approach — KPI Measures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B33A-9C5C-1B01-8FE8-A7D10D889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set of DAX measures was created in Power BI to calculate the key performance indicators:</a:t>
            </a:r>
          </a:p>
          <a:p>
            <a:r>
              <a:rPr lang="en-US" b="1" dirty="0"/>
              <a:t>Total Revenue</a:t>
            </a:r>
            <a:r>
              <a:rPr lang="en-US" dirty="0"/>
              <a:t> = Sum of </a:t>
            </a:r>
            <a:r>
              <a:rPr lang="en-US" dirty="0" err="1"/>
              <a:t>realised</a:t>
            </a:r>
            <a:r>
              <a:rPr lang="en-US" dirty="0"/>
              <a:t> revenue from the </a:t>
            </a:r>
            <a:r>
              <a:rPr lang="en-US" b="1" dirty="0"/>
              <a:t>Bookings</a:t>
            </a:r>
            <a:r>
              <a:rPr lang="en-US" dirty="0"/>
              <a:t> table</a:t>
            </a:r>
          </a:p>
          <a:p>
            <a:r>
              <a:rPr lang="en-US" b="1" dirty="0"/>
              <a:t>Total Bookings</a:t>
            </a:r>
            <a:r>
              <a:rPr lang="en-US" dirty="0"/>
              <a:t> = Count of booking IDs from the </a:t>
            </a:r>
            <a:r>
              <a:rPr lang="en-US" b="1" dirty="0"/>
              <a:t>Bookings</a:t>
            </a:r>
            <a:r>
              <a:rPr lang="en-US" dirty="0"/>
              <a:t> table</a:t>
            </a:r>
          </a:p>
          <a:p>
            <a:r>
              <a:rPr lang="en-US" b="1" dirty="0"/>
              <a:t>Average Rating</a:t>
            </a:r>
            <a:r>
              <a:rPr lang="en-US" dirty="0"/>
              <a:t> = Average of guest ratings from the </a:t>
            </a:r>
            <a:r>
              <a:rPr lang="en-US" b="1" dirty="0"/>
              <a:t>Bookings</a:t>
            </a:r>
            <a:r>
              <a:rPr lang="en-US" dirty="0"/>
              <a:t> table</a:t>
            </a:r>
          </a:p>
          <a:p>
            <a:r>
              <a:rPr lang="en-US" b="1" dirty="0"/>
              <a:t>Booked Room Nights</a:t>
            </a:r>
            <a:r>
              <a:rPr lang="en-US" dirty="0"/>
              <a:t> = Sum of booked room nights from the </a:t>
            </a:r>
            <a:r>
              <a:rPr lang="en-US" b="1" dirty="0"/>
              <a:t>Aggregated Bookings</a:t>
            </a:r>
            <a:r>
              <a:rPr lang="en-US" dirty="0"/>
              <a:t> table</a:t>
            </a:r>
          </a:p>
          <a:p>
            <a:r>
              <a:rPr lang="en-US" b="1" dirty="0" err="1"/>
              <a:t>Utilised</a:t>
            </a:r>
            <a:r>
              <a:rPr lang="en-US" b="1" dirty="0"/>
              <a:t> Room Nights</a:t>
            </a:r>
            <a:r>
              <a:rPr lang="en-US" dirty="0"/>
              <a:t> = Sum of </a:t>
            </a:r>
            <a:r>
              <a:rPr lang="en-US" dirty="0" err="1"/>
              <a:t>utilised</a:t>
            </a:r>
            <a:r>
              <a:rPr lang="en-US" dirty="0"/>
              <a:t> (stayed) room nights from the </a:t>
            </a:r>
            <a:r>
              <a:rPr lang="en-US" b="1" dirty="0"/>
              <a:t>Aggregated Bookings</a:t>
            </a:r>
            <a:r>
              <a:rPr lang="en-US" dirty="0"/>
              <a:t> table</a:t>
            </a:r>
          </a:p>
          <a:p>
            <a:r>
              <a:rPr lang="en-US" b="1" dirty="0"/>
              <a:t>Cancellation Rate</a:t>
            </a:r>
            <a:r>
              <a:rPr lang="en-US" dirty="0"/>
              <a:t> = Cancellations ÷ Total Bookings</a:t>
            </a:r>
          </a:p>
          <a:p>
            <a:r>
              <a:rPr lang="en-US" b="1" dirty="0"/>
              <a:t>Occupancy Rate</a:t>
            </a:r>
            <a:r>
              <a:rPr lang="en-US" dirty="0"/>
              <a:t> = </a:t>
            </a:r>
            <a:r>
              <a:rPr lang="en-US" dirty="0" err="1"/>
              <a:t>Utilised</a:t>
            </a:r>
            <a:r>
              <a:rPr lang="en-US" dirty="0"/>
              <a:t> Room Nights ÷ Total Capacity (available room nights)</a:t>
            </a:r>
          </a:p>
          <a:p>
            <a:r>
              <a:rPr lang="en-US" b="1" dirty="0"/>
              <a:t>Average Daily Rate</a:t>
            </a:r>
            <a:r>
              <a:rPr lang="en-US" dirty="0"/>
              <a:t> = Total Revenue ÷ </a:t>
            </a:r>
            <a:r>
              <a:rPr lang="en-US" dirty="0" err="1"/>
              <a:t>Utilised</a:t>
            </a:r>
            <a:r>
              <a:rPr lang="en-US" dirty="0"/>
              <a:t> Room Nights</a:t>
            </a:r>
          </a:p>
          <a:p>
            <a:r>
              <a:rPr lang="en-US" b="1" dirty="0"/>
              <a:t>Revenue per Available Room</a:t>
            </a:r>
            <a:r>
              <a:rPr lang="en-US" dirty="0"/>
              <a:t> = Total Revenue ÷ Total Capacity</a:t>
            </a:r>
          </a:p>
          <a:p>
            <a:r>
              <a:rPr lang="en-US" b="1" dirty="0" err="1"/>
              <a:t>Realisation</a:t>
            </a:r>
            <a:r>
              <a:rPr lang="en-US" b="1" dirty="0"/>
              <a:t> Rate</a:t>
            </a:r>
            <a:r>
              <a:rPr lang="en-US" dirty="0"/>
              <a:t> = </a:t>
            </a:r>
            <a:r>
              <a:rPr lang="en-US" dirty="0" err="1"/>
              <a:t>Utilised</a:t>
            </a:r>
            <a:r>
              <a:rPr lang="en-US" dirty="0"/>
              <a:t> Room Nights ÷ Booked Room Nights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2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1645-D9DD-BB24-40A7-67C89101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 (</a:t>
            </a:r>
            <a:r>
              <a:rPr lang="en-US" dirty="0" err="1"/>
              <a:t>AtliQ</a:t>
            </a:r>
            <a:r>
              <a:rPr lang="en-US" dirty="0"/>
              <a:t> Grands)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B7DAFC-57A1-D84B-1055-A198909D8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442" y="1825625"/>
            <a:ext cx="73251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8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CCB1-775E-4209-9708-295EE2ED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 of the Dashboard (based on your README)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DDDD-41CA-45A5-0BF7-1651F05CB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dashboard presents an </a:t>
            </a:r>
            <a:r>
              <a:rPr lang="en-US" b="1" dirty="0"/>
              <a:t>executive overview</a:t>
            </a:r>
            <a:r>
              <a:rPr lang="en-US" dirty="0"/>
              <a:t> of performance using KPI cards for:</a:t>
            </a:r>
            <a:br>
              <a:rPr lang="en-US" dirty="0"/>
            </a:br>
            <a:r>
              <a:rPr lang="en-US" b="1" dirty="0"/>
              <a:t>Total Revenue, Revenue per available room, Occupancy %, Average daily rate, </a:t>
            </a:r>
            <a:r>
              <a:rPr lang="en-US" b="1" dirty="0" err="1"/>
              <a:t>Realisation</a:t>
            </a:r>
            <a:r>
              <a:rPr lang="en-US" b="1" dirty="0"/>
              <a:t> %, and Total sellable room nights</a:t>
            </a:r>
            <a:r>
              <a:rPr lang="en-US" dirty="0"/>
              <a:t>.</a:t>
            </a:r>
          </a:p>
          <a:p>
            <a:r>
              <a:rPr lang="en-US" b="1" dirty="0"/>
              <a:t>Interactive slicers</a:t>
            </a:r>
            <a:r>
              <a:rPr lang="en-US" dirty="0"/>
              <a:t> allow users to filter results by key dimensions such as:</a:t>
            </a:r>
            <a:br>
              <a:rPr lang="en-US" dirty="0"/>
            </a:br>
            <a:r>
              <a:rPr lang="en-US" b="1" dirty="0"/>
              <a:t>City, Room Type, Property/Hotel, Booking Platform, and the selected time period (week/month range)</a:t>
            </a:r>
            <a:r>
              <a:rPr lang="en-US" dirty="0"/>
              <a:t>.</a:t>
            </a:r>
          </a:p>
          <a:p>
            <a:r>
              <a:rPr lang="en-US" dirty="0"/>
              <a:t>The dashboard supports both </a:t>
            </a:r>
            <a:r>
              <a:rPr lang="en-US" b="1" dirty="0"/>
              <a:t>high-level monitoring</a:t>
            </a:r>
            <a:r>
              <a:rPr lang="en-US" dirty="0"/>
              <a:t> and </a:t>
            </a:r>
            <a:r>
              <a:rPr lang="en-US" b="1" dirty="0"/>
              <a:t>drill-down analysis</a:t>
            </a:r>
            <a:r>
              <a:rPr lang="en-US" dirty="0"/>
              <a:t>, helping identify where revenue is earned and where leakage happens.</a:t>
            </a:r>
          </a:p>
          <a:p>
            <a:r>
              <a:rPr lang="en-US" dirty="0"/>
              <a:t>Visuals are </a:t>
            </a:r>
            <a:r>
              <a:rPr lang="en-US" b="1" dirty="0"/>
              <a:t>fully interactive</a:t>
            </a:r>
            <a:r>
              <a:rPr lang="en-US" dirty="0"/>
              <a:t> (cross-filtering between charts), with </a:t>
            </a:r>
            <a:r>
              <a:rPr lang="en-US" b="1" dirty="0"/>
              <a:t>hover tooltips</a:t>
            </a:r>
            <a:r>
              <a:rPr lang="en-US" dirty="0"/>
              <a:t> for quick additional detail on each data point.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8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D794-FAB8-8C00-D0F9-F36A7E4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visuals included to support analysis: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0596-035D-4592-20B0-FAEB510FB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03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Revenue mix by hotel type (Business vs Luxury)</a:t>
            </a:r>
            <a:r>
              <a:rPr lang="en-US" dirty="0"/>
              <a:t> to understand segment contribution.</a:t>
            </a:r>
          </a:p>
          <a:p>
            <a:pPr lvl="1"/>
            <a:r>
              <a:rPr lang="en-US" b="1" dirty="0"/>
              <a:t>Weekly trends</a:t>
            </a:r>
            <a:r>
              <a:rPr lang="en-US" dirty="0"/>
              <a:t> of key metrics to track changes over time and identify dips/spikes.</a:t>
            </a:r>
          </a:p>
          <a:p>
            <a:pPr lvl="1"/>
            <a:r>
              <a:rPr lang="en-US" b="1" dirty="0"/>
              <a:t>Weekday vs weekend comparison</a:t>
            </a:r>
            <a:r>
              <a:rPr lang="en-US" dirty="0"/>
              <a:t> to evaluate demand patterns and pricing opportunities.</a:t>
            </a:r>
          </a:p>
          <a:p>
            <a:pPr lvl="1"/>
            <a:r>
              <a:rPr lang="en-US" b="1" dirty="0"/>
              <a:t>Platform performance view</a:t>
            </a:r>
            <a:r>
              <a:rPr lang="en-US" dirty="0"/>
              <a:t> comparing booking platforms using </a:t>
            </a:r>
            <a:r>
              <a:rPr lang="en-US" dirty="0" err="1"/>
              <a:t>Realisation</a:t>
            </a:r>
            <a:r>
              <a:rPr lang="en-US" dirty="0"/>
              <a:t> % (and pricing) to support channel strategy.</a:t>
            </a:r>
          </a:p>
          <a:p>
            <a:pPr lvl="1"/>
            <a:r>
              <a:rPr lang="en-US" b="1" dirty="0"/>
              <a:t>Property performance matrix</a:t>
            </a:r>
            <a:r>
              <a:rPr lang="en-US" dirty="0"/>
              <a:t> showing KPIs by hotel and city to quickly spot top and bottom performers (with cancellations and ratings for context).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1ACF-7130-19DE-E5C8-9D585770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B644-4F83-FD31-91FF-5AEBB7F55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Portfolio performance (W19–W31, 2022):</a:t>
            </a:r>
            <a:r>
              <a:rPr lang="en-US" dirty="0"/>
              <a:t> </a:t>
            </a:r>
            <a:r>
              <a:rPr lang="en-US" dirty="0" err="1"/>
              <a:t>AtliQ</a:t>
            </a:r>
            <a:r>
              <a:rPr lang="en-US" dirty="0"/>
              <a:t> Grands generated </a:t>
            </a:r>
            <a:r>
              <a:rPr lang="en-US" b="1" dirty="0"/>
              <a:t>1.71bn</a:t>
            </a:r>
            <a:r>
              <a:rPr lang="en-US" dirty="0"/>
              <a:t> in revenue with </a:t>
            </a:r>
            <a:r>
              <a:rPr lang="en-US" b="1" dirty="0"/>
              <a:t>57.87% occupancy</a:t>
            </a:r>
            <a:r>
              <a:rPr lang="en-US" dirty="0"/>
              <a:t>, </a:t>
            </a:r>
            <a:r>
              <a:rPr lang="en-US" b="1" dirty="0"/>
              <a:t>12.70K average daily rate</a:t>
            </a:r>
            <a:r>
              <a:rPr lang="en-US" dirty="0"/>
              <a:t>, and </a:t>
            </a:r>
            <a:r>
              <a:rPr lang="en-US" b="1" dirty="0"/>
              <a:t>70.15% </a:t>
            </a:r>
            <a:r>
              <a:rPr lang="en-US" b="1" dirty="0" err="1"/>
              <a:t>realisation</a:t>
            </a:r>
            <a:r>
              <a:rPr lang="en-US" dirty="0"/>
              <a:t>.</a:t>
            </a:r>
          </a:p>
          <a:p>
            <a:r>
              <a:rPr lang="en-US" b="1" dirty="0"/>
              <a:t>Revenue mix insight:</a:t>
            </a:r>
            <a:r>
              <a:rPr lang="en-US" dirty="0"/>
              <a:t> Revenue is mainly driven by the </a:t>
            </a:r>
            <a:r>
              <a:rPr lang="en-US" b="1" dirty="0"/>
              <a:t>Luxury segment (1.05bn, 61.61%)</a:t>
            </a:r>
            <a:r>
              <a:rPr lang="en-US" dirty="0"/>
              <a:t>, while </a:t>
            </a:r>
            <a:r>
              <a:rPr lang="en-US" b="1" dirty="0"/>
              <a:t>Business contributes 0.66bn (38.39%)</a:t>
            </a:r>
            <a:r>
              <a:rPr lang="en-US" dirty="0"/>
              <a:t>. Protecting Luxury availability, pricing, and guest experience has the biggest impact on total revenue.</a:t>
            </a:r>
          </a:p>
          <a:p>
            <a:r>
              <a:rPr lang="en-US" b="1" dirty="0"/>
              <a:t>Main driver of performance:</a:t>
            </a:r>
            <a:r>
              <a:rPr lang="en-US" dirty="0"/>
              <a:t> </a:t>
            </a:r>
            <a:r>
              <a:rPr lang="en-US" b="1" dirty="0"/>
              <a:t>Occupancy fluctuates more than room price</a:t>
            </a:r>
            <a:r>
              <a:rPr lang="en-US" dirty="0"/>
              <a:t> across the weeks, and changes in occupancy align with changes in revenue per available room. This suggests the strongest lever is </a:t>
            </a:r>
            <a:r>
              <a:rPr lang="en-US" b="1" dirty="0"/>
              <a:t>improving </a:t>
            </a:r>
            <a:r>
              <a:rPr lang="en-US" b="1" dirty="0" err="1"/>
              <a:t>utilised</a:t>
            </a:r>
            <a:r>
              <a:rPr lang="en-US" b="1" dirty="0"/>
              <a:t> room nights</a:t>
            </a:r>
            <a:r>
              <a:rPr lang="en-US" dirty="0"/>
              <a:t>, not frequent price changes.</a:t>
            </a:r>
          </a:p>
          <a:p>
            <a:r>
              <a:rPr lang="en-US" b="1" dirty="0"/>
              <a:t>Demand pattern:</a:t>
            </a:r>
            <a:r>
              <a:rPr lang="en-US" dirty="0"/>
              <a:t> </a:t>
            </a:r>
            <a:r>
              <a:rPr lang="en-US" b="1" dirty="0"/>
              <a:t>Weekends perform better than weekdays</a:t>
            </a:r>
            <a:r>
              <a:rPr lang="en-US" dirty="0"/>
              <a:t> (higher occupancy and higher revenue per available room), while room price stays almost the same. This indicates a clear opportunity to </a:t>
            </a:r>
            <a:r>
              <a:rPr lang="en-US" b="1" dirty="0"/>
              <a:t>lift weekday demand</a:t>
            </a:r>
            <a:r>
              <a:rPr lang="en-US" dirty="0"/>
              <a:t> without damaging pricing.</a:t>
            </a:r>
          </a:p>
          <a:p>
            <a:r>
              <a:rPr lang="en-US" b="1" dirty="0"/>
              <a:t>Revenue leakage risk:</a:t>
            </a:r>
            <a:r>
              <a:rPr lang="en-US" dirty="0"/>
              <a:t> </a:t>
            </a:r>
            <a:r>
              <a:rPr lang="en-US" b="1" dirty="0" err="1"/>
              <a:t>Realisation</a:t>
            </a:r>
            <a:r>
              <a:rPr lang="en-US" b="1" dirty="0"/>
              <a:t> stays around ~70%</a:t>
            </a:r>
            <a:r>
              <a:rPr lang="en-US" dirty="0"/>
              <a:t> and the </a:t>
            </a:r>
            <a:r>
              <a:rPr lang="en-US" b="1" dirty="0"/>
              <a:t>cancellation rate is high (~24.84%)</a:t>
            </a:r>
            <a:r>
              <a:rPr lang="en-US" dirty="0"/>
              <a:t>, meaning a large share of booked nights is not converted into </a:t>
            </a:r>
            <a:r>
              <a:rPr lang="en-US" dirty="0" err="1"/>
              <a:t>utilised</a:t>
            </a:r>
            <a:r>
              <a:rPr lang="en-US" dirty="0"/>
              <a:t> nights. Reducing cancellations/no-shows can directly increase </a:t>
            </a:r>
            <a:r>
              <a:rPr lang="en-US" dirty="0" err="1"/>
              <a:t>realised</a:t>
            </a:r>
            <a:r>
              <a:rPr lang="en-US" dirty="0"/>
              <a:t> revenue.</a:t>
            </a:r>
          </a:p>
          <a:p>
            <a:r>
              <a:rPr lang="en-US" b="1" dirty="0"/>
              <a:t>Property-level differences:</a:t>
            </a:r>
            <a:r>
              <a:rPr lang="en-US" dirty="0"/>
              <a:t> Top hotels (especially in Mumbai) achieve strong results by combining </a:t>
            </a:r>
            <a:r>
              <a:rPr lang="en-US" b="1" dirty="0"/>
              <a:t>high occupancy and premium room price</a:t>
            </a:r>
            <a:r>
              <a:rPr lang="en-US" dirty="0"/>
              <a:t>, while some properties have good pricing but weaker occupancy, and low ratings are a warning signal for future cancellations and demand.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5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4eab11-ac7d-425f-87f6-e72650e093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C757F4FF99504382A5E2D60E16BBC5" ma:contentTypeVersion="6" ma:contentTypeDescription="Create a new document." ma:contentTypeScope="" ma:versionID="6947721b88a45936b8b4dfe89300937d">
  <xsd:schema xmlns:xsd="http://www.w3.org/2001/XMLSchema" xmlns:xs="http://www.w3.org/2001/XMLSchema" xmlns:p="http://schemas.microsoft.com/office/2006/metadata/properties" xmlns:ns3="104eab11-ac7d-425f-87f6-e72650e09308" targetNamespace="http://schemas.microsoft.com/office/2006/metadata/properties" ma:root="true" ma:fieldsID="386fcdb9909722c24dec1727772949b2" ns3:_="">
    <xsd:import namespace="104eab11-ac7d-425f-87f6-e72650e093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eab11-ac7d-425f-87f6-e72650e093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DAC55-C9AD-49BD-A2A5-C41F1AB3BA8B}">
  <ds:schemaRefs>
    <ds:schemaRef ds:uri="http://purl.org/dc/dcmitype/"/>
    <ds:schemaRef ds:uri="http://schemas.microsoft.com/office/infopath/2007/PartnerControls"/>
    <ds:schemaRef ds:uri="http://purl.org/dc/elements/1.1/"/>
    <ds:schemaRef ds:uri="104eab11-ac7d-425f-87f6-e72650e09308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23DC2A6-62E1-4C19-B916-9EE5DA9D3A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158F87-15CA-4C36-8891-74E9CCA6CA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4eab11-ac7d-425f-87f6-e72650e093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993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INTERACTIVE DASHBOARD FOR REVENUE AID BOOKING PERFORMANCE</vt:lpstr>
      <vt:lpstr>Business Objective </vt:lpstr>
      <vt:lpstr>Problem statement</vt:lpstr>
      <vt:lpstr>Solution Approach (Slide) </vt:lpstr>
      <vt:lpstr>Data modelling (Power BI – Model view)</vt:lpstr>
      <vt:lpstr>Solution Approach — KPI Measures </vt:lpstr>
      <vt:lpstr>Dashboard Overview (AtliQ Grands)</vt:lpstr>
      <vt:lpstr>Features of the Dashboard (based on your README) </vt:lpstr>
      <vt:lpstr>Main visuals included to support analysis: </vt:lpstr>
      <vt:lpstr>Business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Zamin Mammadov (Fuad)</dc:creator>
  <cp:lastModifiedBy>Zamin Mammadov (Fuad)</cp:lastModifiedBy>
  <cp:revision>1</cp:revision>
  <dcterms:created xsi:type="dcterms:W3CDTF">2025-12-28T23:55:03Z</dcterms:created>
  <dcterms:modified xsi:type="dcterms:W3CDTF">2025-12-29T00:15:51Z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0x010100A8C757F4FF99504382A5E2D60E16BBC5</vt:lpwstr>
  </property>
</Properties>
</file>